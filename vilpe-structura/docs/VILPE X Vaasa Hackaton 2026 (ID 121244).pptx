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E3530F"/>
    <a:srgbClr val="012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39274-BE7F-476E-A5FB-82DD62A386CD}" type="datetimeFigureOut">
              <a:rPr lang="en-FI" smtClean="0"/>
              <a:t>08/09/2026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7A52E-65AA-4583-B171-91DC168248E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597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rocks next to a building&#10;&#10;AI-generated content may be incorrect.">
            <a:extLst>
              <a:ext uri="{FF2B5EF4-FFF2-40B4-BE49-F238E27FC236}">
                <a16:creationId xmlns:a16="http://schemas.microsoft.com/office/drawing/2014/main" id="{83814ADB-1C5E-A855-94D1-192BBD256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b="10240"/>
          <a:stretch>
            <a:fillRect/>
          </a:stretch>
        </p:blipFill>
        <p:spPr>
          <a:xfrm>
            <a:off x="0" y="-426984"/>
            <a:ext cx="12192000" cy="805035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8A43541-A9C2-9C26-C019-0603A26E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182" y="3720662"/>
            <a:ext cx="7486142" cy="7807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FI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0C7D37A-023D-5350-507B-7EDDF63A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182" y="2272633"/>
            <a:ext cx="7649324" cy="125884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FI" dirty="0"/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E4FB40F4-C4C8-0D3A-0F7F-1033EAB8BD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872" y="334351"/>
            <a:ext cx="3356022" cy="96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7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2E34-E39F-9DD1-9406-1AC429AB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9470366" cy="966609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527C-E9BB-AEC9-5F4A-A1A9A7896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5159"/>
            <a:ext cx="9470366" cy="4211804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66831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B396-911C-F351-5D36-76609A76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9196137" cy="9652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162C-58E5-EFDE-C2A7-976BFBF89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57137"/>
            <a:ext cx="4432540" cy="42198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0239B-9076-9819-C9BD-E7FE8387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F0C8E6-F424-480B-88C4-9A5927DE6670}" type="datetimeFigureOut">
              <a:rPr lang="en-FI" smtClean="0"/>
              <a:t>08/09/2026</a:t>
            </a:fld>
            <a:endParaRPr lang="en-FI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33F22B-ECC0-BDCD-3B83-4191FCBD579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5525938" y="1957137"/>
            <a:ext cx="4432540" cy="42198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85810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7B13-3853-A60D-6903-24F5946C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8916853" cy="96205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B5132-1ACF-54B0-9791-FC96751D1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54928"/>
            <a:ext cx="4387820" cy="7122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F8E72-A2C4-3F2C-6C24-792161C20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68803"/>
            <a:ext cx="4387821" cy="33432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34A6B-3364-2C79-B2D6-32A4F7CA0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68820" y="1954928"/>
            <a:ext cx="4387821" cy="7122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6C46D-BE1D-D562-20CF-4B0E3B018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68820" y="2768803"/>
            <a:ext cx="4387821" cy="33432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4BF28-E3A3-B602-435B-8192D39B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F0C8E6-F424-480B-88C4-9A5927DE6670}" type="datetimeFigureOut">
              <a:rPr lang="en-FI" smtClean="0"/>
              <a:t>08/09/2026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3280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750E-3AA6-BE8D-F3C7-8606B9E3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740"/>
            <a:ext cx="9483165" cy="92889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244B4-6DD0-C1C8-04A8-DCC04758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F0C8E6-F424-480B-88C4-9A5927DE6670}" type="datetimeFigureOut">
              <a:rPr lang="en-FI" smtClean="0"/>
              <a:t>08/09/2026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6321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390C4696-A6C9-78B5-D3D7-83F8164854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5" y="681520"/>
            <a:ext cx="1200510" cy="3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1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750E-3AA6-BE8D-F3C7-8606B9E3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66416"/>
            <a:ext cx="5257800" cy="979822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244B4-6DD0-C1C8-04A8-DCC04758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F0C8E6-F424-480B-88C4-9A5927DE6670}" type="datetimeFigureOut">
              <a:rPr lang="en-FI" smtClean="0"/>
              <a:t>08/09/2026</a:t>
            </a:fld>
            <a:endParaRPr lang="en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CB90E-5FBB-A277-B14D-29CF6071876B}"/>
              </a:ext>
            </a:extLst>
          </p:cNvPr>
          <p:cNvSpPr/>
          <p:nvPr userDrawn="1"/>
        </p:nvSpPr>
        <p:spPr>
          <a:xfrm>
            <a:off x="6420927" y="-422695"/>
            <a:ext cx="5952227" cy="770338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ln>
                <a:noFill/>
              </a:ln>
              <a:solidFill>
                <a:srgbClr val="EBEBEB"/>
              </a:solidFill>
            </a:endParaRP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89D43186-014C-BC90-FA75-007FABEC9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292" y="666416"/>
            <a:ext cx="1218239" cy="3515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289B60-D0AB-95CB-4CF9-8E344C289911}"/>
              </a:ext>
            </a:extLst>
          </p:cNvPr>
          <p:cNvSpPr/>
          <p:nvPr userDrawn="1"/>
        </p:nvSpPr>
        <p:spPr>
          <a:xfrm>
            <a:off x="0" y="764877"/>
            <a:ext cx="159488" cy="914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6F3417-83E1-170E-F51F-5A2265EB1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33079"/>
            <a:ext cx="4725838" cy="42438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AE375B-57C2-6FC2-AF62-67E8446B8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3329" y="1929904"/>
            <a:ext cx="4892920" cy="42438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334B56-0C92-ADE0-7C16-69C7958F2C36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4735183" cy="0"/>
          </a:xfrm>
          <a:prstGeom prst="line">
            <a:avLst/>
          </a:prstGeom>
          <a:ln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68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DFA7-106B-9590-D0BE-E6174A86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1048"/>
            <a:ext cx="6406401" cy="586597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992FF-4AF1-5C09-1F41-E3400E726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957220"/>
            <a:ext cx="4978729" cy="39038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26FBE-0EB9-AA9E-02D5-CF69BB868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65158"/>
            <a:ext cx="3932237" cy="39038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70ED6-AFB0-3F90-4835-663CC8B5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F0C8E6-F424-480B-88C4-9A5927DE6670}" type="datetimeFigureOut">
              <a:rPr lang="en-FI" smtClean="0"/>
              <a:t>08/09/2026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060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EB11C2-0749-3656-A967-1E8E3CEEF0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34" y="0"/>
            <a:ext cx="25439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E1755A-CE31-6BA6-4961-4F3EDFFD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8883770" cy="9652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EB7F-2DA1-434D-2925-052BFCC0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5509"/>
            <a:ext cx="8883770" cy="42614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4B8B-A5ED-29A3-90D0-471903B4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BDC4-46E3-49B1-9832-FA36F896E346}" type="datetimeFigureOut">
              <a:rPr lang="en-FI" smtClean="0"/>
              <a:t>08/09/2026</a:t>
            </a:fld>
            <a:endParaRPr lang="en-FI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D2660B91-F2FC-900D-A546-2EEB9E3AB9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2" y="681037"/>
            <a:ext cx="1200510" cy="3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755A-CE31-6BA6-4961-4F3EDFFD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8754979" cy="96520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FI" dirty="0"/>
          </a:p>
        </p:txBody>
      </p:sp>
      <p:pic>
        <p:nvPicPr>
          <p:cNvPr id="11" name="Picture 10" descr="A rock in the water&#10;&#10;AI-generated content may be incorrect.">
            <a:extLst>
              <a:ext uri="{FF2B5EF4-FFF2-40B4-BE49-F238E27FC236}">
                <a16:creationId xmlns:a16="http://schemas.microsoft.com/office/drawing/2014/main" id="{9D227A37-3BFD-B411-FE05-11A7AC5B52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120" y="0"/>
            <a:ext cx="2468880" cy="6857999"/>
          </a:xfrm>
          <a:prstGeom prst="rect">
            <a:avLst/>
          </a:prstGeom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EB7F-2DA1-434D-2925-052BFCC0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7627"/>
            <a:ext cx="8754979" cy="42693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4B8B-A5ED-29A3-90D0-471903B4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BDC4-46E3-49B1-9832-FA36F896E346}" type="datetimeFigureOut">
              <a:rPr lang="en-FI" smtClean="0"/>
              <a:t>08/09/2026</a:t>
            </a:fld>
            <a:endParaRPr lang="en-FI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D2660B91-F2FC-900D-A546-2EEB9E3AB9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4" y="681037"/>
            <a:ext cx="1200510" cy="3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1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052E82-F32E-1AD0-1C19-0EF37484ED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7"/>
          <a:stretch>
            <a:fillRect/>
          </a:stretch>
        </p:blipFill>
        <p:spPr>
          <a:xfrm>
            <a:off x="6217986" y="0"/>
            <a:ext cx="5974014" cy="68623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E1755A-CE31-6BA6-4961-4F3EDFFD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3920"/>
            <a:ext cx="5610726" cy="812318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EB7F-2DA1-434D-2925-052BFCC0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215"/>
            <a:ext cx="5610726" cy="43087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4B8B-A5ED-29A3-90D0-471903B4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BDC4-46E3-49B1-9832-FA36F896E346}" type="datetimeFigureOut">
              <a:rPr lang="en-FI" smtClean="0"/>
              <a:t>08/09/2026</a:t>
            </a:fld>
            <a:endParaRPr lang="en-FI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D2660B91-F2FC-900D-A546-2EEB9E3AB9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5" y="681520"/>
            <a:ext cx="1200510" cy="3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6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round object with a grey tube on top of a building&#10;&#10;AI-generated content may be incorrect.">
            <a:extLst>
              <a:ext uri="{FF2B5EF4-FFF2-40B4-BE49-F238E27FC236}">
                <a16:creationId xmlns:a16="http://schemas.microsoft.com/office/drawing/2014/main" id="{943764AC-E521-7F61-0D1F-1892666B0C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695" y="-8309"/>
            <a:ext cx="6593305" cy="68663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E1755A-CE31-6BA6-4961-4F3EDFFD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5610726" cy="96520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EB7F-2DA1-434D-2925-052BFCC0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097"/>
            <a:ext cx="5610726" cy="43008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4B8B-A5ED-29A3-90D0-471903B4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BDC4-46E3-49B1-9832-FA36F896E346}" type="datetimeFigureOut">
              <a:rPr lang="en-FI" smtClean="0"/>
              <a:t>08/09/2026</a:t>
            </a:fld>
            <a:endParaRPr lang="en-FI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D2660B91-F2FC-900D-A546-2EEB9E3AB9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5" y="681520"/>
            <a:ext cx="1200510" cy="3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57FCA-5EBD-C736-E9EE-A1A7BC510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03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580F0-83EB-C8CF-9F51-8F0E3EDEC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07627"/>
            <a:ext cx="9470366" cy="4269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D9485CD6-3F01-EA20-0009-EA045B77E9E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4" y="681520"/>
            <a:ext cx="1200510" cy="3463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F09C26-FB02-257E-3BCE-C5CEDB3C4349}"/>
              </a:ext>
            </a:extLst>
          </p:cNvPr>
          <p:cNvSpPr/>
          <p:nvPr userDrawn="1"/>
        </p:nvSpPr>
        <p:spPr>
          <a:xfrm>
            <a:off x="0" y="776177"/>
            <a:ext cx="159488" cy="914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ED28A0-BCC8-0759-CAF9-F29BD2443A0F}"/>
              </a:ext>
            </a:extLst>
          </p:cNvPr>
          <p:cNvCxnSpPr>
            <a:cxnSpLocks/>
            <a:endCxn id="2" idx="2"/>
          </p:cNvCxnSpPr>
          <p:nvPr userDrawn="1"/>
        </p:nvCxnSpPr>
        <p:spPr>
          <a:xfrm>
            <a:off x="838200" y="1690688"/>
            <a:ext cx="4735183" cy="0"/>
          </a:xfrm>
          <a:prstGeom prst="line">
            <a:avLst/>
          </a:prstGeom>
          <a:ln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2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71" r:id="rId6"/>
    <p:sldLayoutId id="2147483659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6A970-4616-CB50-56E6-398FB3CE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F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F27AB-8381-BDD4-0CCC-B07460EFC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7041"/>
            <a:ext cx="10515600" cy="4229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F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8C9D-252A-5E02-97CE-FA3EE4326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F10BDC4-46E3-49B1-9832-FA36F896E346}" type="datetimeFigureOut">
              <a:rPr lang="en-FI" smtClean="0"/>
              <a:pPr/>
              <a:t>08/09/2026</a:t>
            </a:fld>
            <a:endParaRPr lang="en-FI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EFCFD0-5F70-0829-BFA9-60416C4BDD1F}"/>
              </a:ext>
            </a:extLst>
          </p:cNvPr>
          <p:cNvSpPr/>
          <p:nvPr userDrawn="1"/>
        </p:nvSpPr>
        <p:spPr>
          <a:xfrm>
            <a:off x="0" y="776177"/>
            <a:ext cx="159488" cy="914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EA2C70-CF37-2067-CB41-331AE6B5C139}"/>
              </a:ext>
            </a:extLst>
          </p:cNvPr>
          <p:cNvCxnSpPr/>
          <p:nvPr userDrawn="1"/>
        </p:nvCxnSpPr>
        <p:spPr>
          <a:xfrm>
            <a:off x="838200" y="1690688"/>
            <a:ext cx="4735183" cy="0"/>
          </a:xfrm>
          <a:prstGeom prst="line">
            <a:avLst/>
          </a:prstGeom>
          <a:ln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034864DE-13B9-3843-89D3-182138FCB4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774" y="681520"/>
            <a:ext cx="1200510" cy="3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9" r:id="rId2"/>
    <p:sldLayoutId id="2147483670" r:id="rId3"/>
    <p:sldLayoutId id="214748366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F11AD3A-DEE5-A5EF-4F03-488F246899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Create new services and business models with VILPE Sense</a:t>
            </a:r>
          </a:p>
          <a:p>
            <a:r>
              <a:rPr lang="en-US" dirty="0"/>
              <a:t>Katarina Hellén, Research Manager, VILPE Oy </a:t>
            </a:r>
            <a:endParaRPr lang="en-FI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1C1526-7638-92DF-5255-5E950988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FI" dirty="0"/>
              <a:t>Unlocking the Value of Building Data</a:t>
            </a:r>
          </a:p>
        </p:txBody>
      </p:sp>
    </p:spTree>
    <p:extLst>
      <p:ext uri="{BB962C8B-B14F-4D97-AF65-F5344CB8AC3E}">
        <p14:creationId xmlns:p14="http://schemas.microsoft.com/office/powerpoint/2010/main" val="373106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216D-40A1-E0B9-70B4-B40C4BA0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Moisture problems often remain hidden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C3594-4B7D-E745-F9A7-1367FF581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Moisture problems can develop long before the damage becomes visible</a:t>
            </a:r>
          </a:p>
          <a:p>
            <a:pPr lvl="1"/>
            <a:r>
              <a:rPr lang="en-US" dirty="0"/>
              <a:t>Hidden moisture can lead to costly damage and unnecessary repairs </a:t>
            </a:r>
          </a:p>
          <a:p>
            <a:pPr lvl="1"/>
            <a:r>
              <a:rPr lang="en-US" dirty="0"/>
              <a:t>Building owners need information before smaller problems become serious </a:t>
            </a:r>
          </a:p>
          <a:p>
            <a:pPr lvl="1"/>
            <a:r>
              <a:rPr lang="en-US" dirty="0"/>
              <a:t>Preventive maintenance requires reliable information from inside the structure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75588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23E7-84FA-F36A-6E52-863D8511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VILPE Sense makes hidden conditions visible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DD02-5A88-ACBE-3841-AA0B3047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I" dirty="0"/>
              <a:t>VILPE Sense collects information from inside roofs, walls, and other building structures</a:t>
            </a:r>
            <a:endParaRPr lang="en-US" dirty="0"/>
          </a:p>
          <a:p>
            <a:pPr lvl="1"/>
            <a:r>
              <a:rPr lang="en-FI" dirty="0"/>
              <a:t>Sensors monitor temperature and relative humidity </a:t>
            </a:r>
          </a:p>
          <a:p>
            <a:pPr lvl="1"/>
            <a:r>
              <a:rPr lang="en-FI" dirty="0"/>
              <a:t>The system can identify changes that people cannot see from the outside.</a:t>
            </a:r>
            <a:endParaRPr lang="en-US" dirty="0"/>
          </a:p>
          <a:p>
            <a:pPr lvl="1"/>
            <a:r>
              <a:rPr lang="en-US" dirty="0"/>
              <a:t>This helps to spot potential problems early and gives better information for maintenance and repair decisions.</a:t>
            </a:r>
          </a:p>
          <a:p>
            <a:pPr lvl="1"/>
            <a:r>
              <a:rPr lang="en-FI" dirty="0"/>
              <a:t>The data can also be used to automatically improve ventilation and reduce moisture buildup</a:t>
            </a:r>
            <a:r>
              <a:rPr lang="en-US" dirty="0"/>
              <a:t> (VILPE Sense humidity control)</a:t>
            </a:r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5348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CDB8-AE4D-C490-FB22-FFBF436FC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FI" dirty="0"/>
              <a:t>The opportunity goes beyond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E6EA8-DD65-6AC4-3163-62E9DFFD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FI" dirty="0"/>
              <a:t>What else could VILPE Sense and building data make possible?</a:t>
            </a:r>
          </a:p>
          <a:p>
            <a:r>
              <a:rPr lang="en-FI" dirty="0"/>
              <a:t>Today, VILPE Sense is primarily used to monitor moisture conditions and support moisture management.</a:t>
            </a:r>
          </a:p>
          <a:p>
            <a:r>
              <a:rPr lang="en-FI" dirty="0"/>
              <a:t>But the same system and data could enable:</a:t>
            </a:r>
          </a:p>
          <a:p>
            <a:pPr lvl="1"/>
            <a:r>
              <a:rPr lang="en-FI" dirty="0"/>
              <a:t>new services and customer experiences </a:t>
            </a:r>
          </a:p>
          <a:p>
            <a:pPr lvl="1"/>
            <a:r>
              <a:rPr lang="en-FI" dirty="0"/>
              <a:t>new users and customer groups </a:t>
            </a:r>
          </a:p>
          <a:p>
            <a:pPr lvl="1"/>
            <a:r>
              <a:rPr lang="en-FI" dirty="0"/>
              <a:t>new partnerships and ecosystems </a:t>
            </a:r>
          </a:p>
          <a:p>
            <a:pPr lvl="1"/>
            <a:r>
              <a:rPr lang="en-FI" dirty="0"/>
              <a:t>subscription services or pay-for-results business models</a:t>
            </a:r>
          </a:p>
          <a:p>
            <a:pPr lvl="1"/>
            <a:r>
              <a:rPr lang="en-FI" dirty="0"/>
              <a:t>new ways to prevent risks and support decisions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71018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631E-5748-EBDC-A3AC-D90DA84F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challenge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0D4B8-3522-94D2-446A-7BABE435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FI" dirty="0"/>
              <a:t>Develop new service concepts or business models that create value from VILPE Sense and/or the building data generated by the system.</a:t>
            </a:r>
          </a:p>
          <a:p>
            <a:r>
              <a:rPr lang="en-FI" dirty="0"/>
              <a:t>Consider:</a:t>
            </a:r>
          </a:p>
          <a:p>
            <a:pPr lvl="1"/>
            <a:r>
              <a:rPr lang="en-FI" dirty="0"/>
              <a:t>Who is the customer, user or beneficiary? </a:t>
            </a:r>
          </a:p>
          <a:p>
            <a:pPr lvl="1"/>
            <a:r>
              <a:rPr lang="en-FI" dirty="0"/>
              <a:t>What problem or unmet need are you solving? </a:t>
            </a:r>
          </a:p>
          <a:p>
            <a:pPr lvl="1"/>
            <a:r>
              <a:rPr lang="en-FI" dirty="0"/>
              <a:t>How does VILPE Sense or its data contribute? </a:t>
            </a:r>
          </a:p>
          <a:p>
            <a:pPr lvl="1"/>
            <a:r>
              <a:rPr lang="en-FI" dirty="0"/>
              <a:t>What value does the solution create? </a:t>
            </a:r>
            <a:endParaRPr lang="en-US" dirty="0"/>
          </a:p>
          <a:p>
            <a:pPr lvl="1"/>
            <a:r>
              <a:rPr lang="en-FI" dirty="0"/>
              <a:t>Who would buy it, and what makes it worth paying for?</a:t>
            </a:r>
          </a:p>
        </p:txBody>
      </p:sp>
    </p:spTree>
    <p:extLst>
      <p:ext uri="{BB962C8B-B14F-4D97-AF65-F5344CB8AC3E}">
        <p14:creationId xmlns:p14="http://schemas.microsoft.com/office/powerpoint/2010/main" val="93604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E36-11BB-0785-D779-B545A642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You are free to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81299-74EB-8355-C0E2-A302DF6D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FI" dirty="0"/>
              <a:t>Build on today’s applications – or take VILPE Sense somewhere entirely new</a:t>
            </a:r>
          </a:p>
          <a:p>
            <a:r>
              <a:rPr lang="en-FI" dirty="0"/>
              <a:t>Your concept may explore:</a:t>
            </a:r>
          </a:p>
          <a:p>
            <a:pPr lvl="1"/>
            <a:r>
              <a:rPr lang="en-FI" dirty="0"/>
              <a:t>services for property owners or facility managers </a:t>
            </a:r>
          </a:p>
          <a:p>
            <a:pPr lvl="1"/>
            <a:r>
              <a:rPr lang="en-FI" dirty="0"/>
              <a:t>tools for construction, maintenance or risk management </a:t>
            </a:r>
          </a:p>
          <a:p>
            <a:pPr lvl="1"/>
            <a:r>
              <a:rPr lang="en-FI" dirty="0"/>
              <a:t>services for insurers or other partners </a:t>
            </a:r>
          </a:p>
          <a:p>
            <a:pPr lvl="1"/>
            <a:r>
              <a:rPr lang="en-FI" dirty="0"/>
              <a:t>reporting, benchmarking or decision support </a:t>
            </a:r>
          </a:p>
          <a:p>
            <a:pPr lvl="1"/>
            <a:r>
              <a:rPr lang="en-FI" dirty="0"/>
              <a:t>new combinations of building data </a:t>
            </a:r>
          </a:p>
          <a:p>
            <a:pPr lvl="1"/>
            <a:r>
              <a:rPr lang="en-FI" dirty="0"/>
              <a:t>entirely new customers and applications </a:t>
            </a:r>
          </a:p>
          <a:p>
            <a:r>
              <a:rPr lang="en-FI" b="1" dirty="0"/>
              <a:t>These are only examples. Surprise us.</a:t>
            </a:r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56661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B698-CFA2-D586-35D5-8FC45264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your idea tangible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6EA6-CF92-273D-97A1-7279D905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FI" dirty="0"/>
              <a:t>Show us how your concept would work in practice</a:t>
            </a:r>
          </a:p>
          <a:p>
            <a:r>
              <a:rPr lang="en-FI" dirty="0"/>
              <a:t>Your solution should include:</a:t>
            </a:r>
          </a:p>
          <a:p>
            <a:pPr lvl="1"/>
            <a:r>
              <a:rPr lang="en-FI" dirty="0"/>
              <a:t>a clearly defined customer and need </a:t>
            </a:r>
          </a:p>
          <a:p>
            <a:pPr lvl="1"/>
            <a:r>
              <a:rPr lang="en-FI" dirty="0"/>
              <a:t>the service concept or business model </a:t>
            </a:r>
          </a:p>
          <a:p>
            <a:pPr lvl="1"/>
            <a:r>
              <a:rPr lang="en-FI" dirty="0"/>
              <a:t>a clear value proposition </a:t>
            </a:r>
          </a:p>
          <a:p>
            <a:pPr lvl="1"/>
            <a:r>
              <a:rPr lang="en-FI" dirty="0"/>
              <a:t>the role of VILPE Sense and its data </a:t>
            </a:r>
          </a:p>
          <a:p>
            <a:pPr lvl="1"/>
            <a:r>
              <a:rPr lang="en-FI" dirty="0"/>
              <a:t>how the concept creates and captures value </a:t>
            </a:r>
          </a:p>
          <a:p>
            <a:pPr lvl="1"/>
            <a:r>
              <a:rPr lang="en-FI" dirty="0"/>
              <a:t>how VILPE could test the concept after the hackathon </a:t>
            </a:r>
          </a:p>
          <a:p>
            <a:r>
              <a:rPr lang="en-FI" dirty="0"/>
              <a:t>Bring it to life with a working prototype, clickable UI mock-up, dashboard, demo or customer journey.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08089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1622A-F18B-C69C-7B34-D3C0D3C0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What winning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37436-B96A-8422-D3D4-05FA4705E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5159"/>
            <a:ext cx="10939670" cy="4211804"/>
          </a:xfrm>
        </p:spPr>
        <p:txBody>
          <a:bodyPr>
            <a:normAutofit/>
          </a:bodyPr>
          <a:lstStyle/>
          <a:p>
            <a:r>
              <a:rPr lang="en-FI" dirty="0"/>
              <a:t>We are looking for ideas that VILPE could genuinely develop further</a:t>
            </a:r>
          </a:p>
          <a:p>
            <a:r>
              <a:rPr lang="en-FI" dirty="0"/>
              <a:t>Solutions will be evaluated based on:</a:t>
            </a:r>
          </a:p>
          <a:p>
            <a:pPr lvl="1"/>
            <a:r>
              <a:rPr lang="en-FI" dirty="0"/>
              <a:t>Customer value – Does it solve a relevant problem? </a:t>
            </a:r>
          </a:p>
          <a:p>
            <a:pPr lvl="1"/>
            <a:r>
              <a:rPr lang="en-FI" dirty="0"/>
              <a:t>Innovation – Does it use VILPE Sense or building data in a fresh way? </a:t>
            </a:r>
          </a:p>
          <a:p>
            <a:pPr lvl="1"/>
            <a:r>
              <a:rPr lang="en-FI" dirty="0"/>
              <a:t>Business potential – Could it become a scalable business? </a:t>
            </a:r>
          </a:p>
          <a:p>
            <a:pPr lvl="1"/>
            <a:r>
              <a:rPr lang="en-FI" dirty="0"/>
              <a:t>Practicality – Could VILPE try it in real life?</a:t>
            </a:r>
            <a:endParaRPr lang="en-US" i="1" dirty="0"/>
          </a:p>
          <a:p>
            <a:r>
              <a:rPr lang="en-FI" i="1" dirty="0"/>
              <a:t>Turn building data into something</a:t>
            </a:r>
            <a:r>
              <a:rPr lang="en-US" i="1" dirty="0"/>
              <a:t> </a:t>
            </a:r>
            <a:r>
              <a:rPr lang="en-FI" i="1" dirty="0"/>
              <a:t>useful that customers would want to pay for.</a:t>
            </a:r>
          </a:p>
          <a:p>
            <a:pPr marL="0" indent="0">
              <a:buNone/>
            </a:pPr>
            <a:endParaRPr lang="en-FI" i="1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46329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512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Segoe UI</vt:lpstr>
      <vt:lpstr>Office Theme</vt:lpstr>
      <vt:lpstr>Custom Design</vt:lpstr>
      <vt:lpstr>Unlocking the Value of Building Data</vt:lpstr>
      <vt:lpstr>Moisture problems often remain hidden</vt:lpstr>
      <vt:lpstr>VILPE Sense makes hidden conditions visible</vt:lpstr>
      <vt:lpstr>The opportunity goes beyond monitoring</vt:lpstr>
      <vt:lpstr>Your challenge</vt:lpstr>
      <vt:lpstr>You are free to explore</vt:lpstr>
      <vt:lpstr>Make your idea tangible</vt:lpstr>
      <vt:lpstr>What winning looks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Essi Poropudas</dc:creator>
  <cp:lastModifiedBy>Katarina Hellén</cp:lastModifiedBy>
  <cp:revision>74</cp:revision>
  <dcterms:created xsi:type="dcterms:W3CDTF">2025-08-13T06:41:14Z</dcterms:created>
  <dcterms:modified xsi:type="dcterms:W3CDTF">2026-09-08T10:59:24Z</dcterms:modified>
</cp:coreProperties>
</file>